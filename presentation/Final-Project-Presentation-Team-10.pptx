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Siddhant   [0:00–0:35]</a:t>
            </a:r>
          </a:p>
          <a:p/>
          <a:p>
            <a:r>
              <a:t>Good morning. Credit card lenders lose money when customers stop paying, and the valuable moment is always before the miss, while the bank can still offer a payment plan, review a limit, or set money aside. Our question was whether a customer's recent card history can tell us who is about to miss next month's payment. Over the next nine minutes we will show you what the data said, how well a model works, and what a bank should and should not do with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Siddhant   [0:35–1:25]</a:t>
            </a:r>
          </a:p>
          <a:p/>
          <a:p>
            <a:r>
              <a:t>It matters that we were precise about the decision before touching the data. A lender's collections team can only contact so many people in a month. Calling the wrong customers wastes that budget, and missing the right ones costs the entire outstanding balance, so the two kinds of mistake are not equally expensive. The job of this model is therefore not to deliver a verdict on any individual customer. It is to order customers by risk, so that a fixed and limited amount of human attention lands where it is worth the most. Every design choice we made follows from that one sentence, including which measures we refused to report.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Siddhant   [1:25–2:15]</a:t>
            </a:r>
          </a:p>
          <a:p/>
          <a:p>
            <a:r>
              <a:t>We used a public dataset of thirty thousand credit card customers from a Taiwanese bank, covering six months of account history: the credit limit, some demographics, six monthly bills, six monthly payments, a record of how late each payment was, and crucially what actually happened the month after. Six thousand six hundred of them defaulted, which is twenty-two percent, or roughly one customer in five. Hold on to that number. It is the reason we rejected the most obvious way of judging a model, and it sets a trap we will close in the final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Siddhant   [2:15–3:05]</a:t>
            </a:r>
          </a:p>
          <a:p/>
          <a:p>
            <a:r>
              <a:t>Before trusting any finding we had to trust the data. There were no missing values and no duplicate records anywhere in the thirty thousand rows, and we verified both rather than assuming. Three structural problems needed fixing: column headings sitting on the wrong row, a column named so that it breaks the ordering of the six months, and a few hundred customers carrying category codes that appear nowhere in the documentation. We also made one deliberate choice. We kept the extreme amounts rather than capping them, which is why over-limit customers stay visible: seven percent of the book, defaulting at thirty percent against twenty-two overall. Then we re-ran every conclusion on the untouched raw file. The answers did not move, so our findings describe credit behaviour, not our own cleaning choices.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Eshwar   [3:05–4:00]</a:t>
            </a:r>
          </a:p>
          <a:p/>
          <a:p>
            <a:r>
              <a:t>One finding changed what we built. The six monthly payment-status records are supposed to use a single coding system. They do not. The code meaning one month late appears three thousand six hundred times in the most recent month and not once in the two oldest. That nearly produced a serious error. Measure whether a customer's status improved across the six months, and the improving customers default at twenty-six percent against sixteen for the stable ones, so improvement appears to predict failure. It does not. Those customers were never improving; the code changed meaning underneath them. So we built no trend feature. Without that check we would have shipped a filing convention and called it customer behaviour.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Eshwar   [4:00–4:55]</a:t>
            </a:r>
          </a:p>
          <a:p/>
          <a:p>
            <a:r>
              <a:t>The strongest predictor is also the most intuitive: how late the customer was on their most recent payment. Customers who are current default about fourteen percent of the time. One month behind, thirty-four percent. Two months behind, sixty-nine percent. So a customer two months behind is more likely than not to default, and that is a policy you could write tomorrow without any model at all. Two refinements sharpen it. Counting how many of the six months were late gives a clean ladder from twelve percent to seventy, with no reversals. And how much they paid matters as much as whether they were late: paying nothing means fifty-two percent, clearing the bill means fourteen.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Eshwar   [4:55–5:45]</a:t>
            </a:r>
          </a:p>
          <a:p/>
          <a:p>
            <a:r>
              <a:t>What turned out not to matter is just as useful. Age, sex, education and marital status are all statistically significant, because with thirty thousand records almost anything is, but every effect size is tiny. Age alone scores barely above a coin flip, and the reason is instructive: risk is U-shaped, falling from twenty-seven percent in the early twenties to nineteen in the low thirties and climbing back past sixty. As a straight line the halves cancel and the variable looks worthless. We excluded demographics entirely. They buy almost no accuracy and carry real fairness exposure, since sex is a protected attribute in lending.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Eshwar   [5:45–6:35]</a:t>
            </a:r>
          </a:p>
          <a:p/>
          <a:p>
            <a:r>
              <a:t>To decide what deserved a place we scored every variable on its own against the outcome. Two things stood out. First, the strongest single signal is the count of late months, and that column does not exist in the data as delivered — we engineered it. The dataset does not ship with its own best predictor. Second, there is a clean gap rather than a gradual decline: the repayment measures fill the top of the list and the demographics fill the bottom, with very little in between.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Umesh   [6:35–7:25]</a:t>
            </a:r>
          </a:p>
          <a:p/>
          <a:p>
            <a:r>
              <a:t>We did not pick a model and hope. We tested three families across three sets of inputs, nine combinations, each validated on customers it had never seen, then added a neural network as a fourth. Two decisions made the comparison fair. We refused to score on accuracy, for reasons about to become obvious, and scored instead on how well each model orders customers by risk. And we tuned the decision cut-off rather than accepting a default. The tree-based methods beat the transparent statistical model, and the top few finished close enough that we treat them as a tie and chose the one easiest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Umesh   [7:25–8:15]</a:t>
            </a:r>
          </a:p>
          <a:p/>
          <a:p>
            <a:r>
              <a:t>So how well does it work. On six thousand customers the model had never seen, it found seven hundred and thirty-eight of the one thousand three hundred and twenty-seven people who went on to default. Of the customers it flagged, just over half genuinely defaulted. Here is the number that matters to a business: flagging the same fourteen hundred customers at random would have caught about three hundred and twelve real defaulters. Our model catches seven hundred and thirty-eight. For the same amount of human effort, the team reaches roughly two and a half times as many of the people who were actually about to default.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Umesh   [8:15–9:05]</a:t>
            </a:r>
          </a:p>
          <a:p/>
          <a:p>
            <a:r>
              <a:t>And now the trap closes. Our accuracy is seventy-nine percent. Always answering no default scores seventy-seven point nine. By the measure most people reach for first, this model is barely better than doing nothing, which is exactly why we never reported it. By the measure that matches the decision, it is clearly worth running. That gap is the most important thing we learned. Two honest limits. It cannot tell you a particular customer will default; one flagged at seventy percent still has a thirty percent chance of paying, so this triggers a call, never an automatic closure. And this is one bank, one market, twenty years ago.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Umesh   [9:05–9:45]</a:t>
            </a:r>
          </a:p>
          <a:p/>
          <a:p>
            <a:r>
              <a:t>Four recommendations. Deploy it as a ranked monthly outreach list, not an automated decision, because the model orders risk well but is not good enough to act unsupervised. Re-set the cut-off from the bank's own costs; ours is tuned for statistical balance rather than for money. Fix the lateness coding we showed earlier, which would make five more months of history usable and is the cheapest improvement available. And treat two months behind as a trigger in its own right, since that group defaults more often than not whatever the model says.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[9:45–10:00]</a:t>
            </a:r>
          </a:p>
          <a:p/>
          <a:p>
            <a:r>
              <a:t>Each member reads their own line.</a:t>
            </a:r>
          </a:p>
          <a:p/>
          <a:p>
            <a:r>
              <a:t>Siddhant Bhura: Data cleaning and preparation · neural network analysis · technical report.</a:t>
            </a:r>
          </a:p>
          <a:p>
            <a:r>
              <a:t>Eshwar Reddy M: Exploratory data analysis · regression assumption testing · presentation.</a:t>
            </a:r>
          </a:p>
          <a:p>
            <a:r>
              <a:t>Umesh Sharma: Model development, comparison and validation · reproducibility pipeline.</a:t>
            </a:r>
          </a:p>
          <a:p>
            <a:r>
              <a:t>Prasad Pidaparty: Dataset selection and business problem definition (project plan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48840"/>
            <a:ext cx="10332720" cy="1280160"/>
          </a:xfrm>
          <a:prstGeom prst="rect">
            <a:avLst/>
          </a:prstGeom>
          <a:noFill/>
        </p:spPr>
        <p:txBody>
          <a:bodyPr wrap="square" lIns="0" rIns="0" tIns="0" bIns="0">
            <a:spAutoFit/>
          </a:bodyPr>
          <a:lstStyle/>
          <a:p>
            <a:pPr algn="l">
              <a:spcAft>
                <a:spcPts val="0"/>
              </a:spcAft>
            </a:pPr>
            <a:r>
              <a:rPr sz="4400" b="1">
                <a:solidFill>
                  <a:srgbClr val="141A20"/>
                </a:solidFill>
                <a:latin typeface="Calibri"/>
              </a:rPr>
              <a:t>Can we see a missed payment coming?</a:t>
            </a:r>
          </a:p>
        </p:txBody>
      </p:sp>
      <p:sp>
        <p:nvSpPr>
          <p:cNvPr id="4" name="TextBox 3"/>
          <p:cNvSpPr txBox="1"/>
          <p:nvPr/>
        </p:nvSpPr>
        <p:spPr>
          <a:xfrm>
            <a:off x="914400" y="3429000"/>
            <a:ext cx="10332720" cy="548640"/>
          </a:xfrm>
          <a:prstGeom prst="rect">
            <a:avLst/>
          </a:prstGeom>
          <a:noFill/>
        </p:spPr>
        <p:txBody>
          <a:bodyPr wrap="square" lIns="0" rIns="0" tIns="0" bIns="0">
            <a:spAutoFit/>
          </a:bodyPr>
          <a:lstStyle/>
          <a:p>
            <a:pPr algn="l">
              <a:spcAft>
                <a:spcPts val="0"/>
              </a:spcAft>
            </a:pPr>
            <a:r>
              <a:rPr sz="1900" b="0">
                <a:solidFill>
                  <a:srgbClr val="1F5FAE"/>
                </a:solidFill>
                <a:latin typeface="Calibri"/>
              </a:rPr>
              <a:t>Predicting credit card default  ·  AAI-500 Final Team Project</a:t>
            </a:r>
          </a:p>
        </p:txBody>
      </p:sp>
      <p:sp>
        <p:nvSpPr>
          <p:cNvPr id="5" name="TextBox 4"/>
          <p:cNvSpPr txBox="1"/>
          <p:nvPr/>
        </p:nvSpPr>
        <p:spPr>
          <a:xfrm>
            <a:off x="914400" y="4526280"/>
            <a:ext cx="10332720" cy="548640"/>
          </a:xfrm>
          <a:prstGeom prst="rect">
            <a:avLst/>
          </a:prstGeom>
          <a:noFill/>
        </p:spPr>
        <p:txBody>
          <a:bodyPr wrap="square" lIns="0" rIns="0" tIns="0" bIns="0">
            <a:spAutoFit/>
          </a:bodyPr>
          <a:lstStyle/>
          <a:p>
            <a:pPr algn="l">
              <a:spcAft>
                <a:spcPts val="0"/>
              </a:spcAft>
            </a:pPr>
            <a:r>
              <a:rPr sz="1400" b="0">
                <a:solidFill>
                  <a:srgbClr val="5C666F"/>
                </a:solidFill>
                <a:latin typeface="Calibri"/>
              </a:rPr>
              <a:t>Team 10 — Prasad Pidaparty · Siddhant Bhura · Eshwar Reddy M · Umesh Sharma</a:t>
            </a:r>
          </a:p>
        </p:txBody>
      </p:sp>
      <p:sp>
        <p:nvSpPr>
          <p:cNvPr id="6" name="TextBox 5"/>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The decision we are supporting</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Not a verdict on a customer — a ranked list for a team with limited time</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0"/>
            <a:ext cx="10607040" cy="3108960"/>
          </a:xfrm>
          <a:prstGeom prst="rect">
            <a:avLst/>
          </a:prstGeom>
          <a:noFill/>
        </p:spPr>
        <p:txBody>
          <a:bodyPr wrap="square" lIns="0" rIns="0">
            <a:spAutoFit/>
          </a:bodyPr>
          <a:lstStyle/>
          <a:p>
            <a:pPr>
              <a:lnSpc>
                <a:spcPct val="112000"/>
              </a:lnSpc>
              <a:spcAft>
                <a:spcPts val="1100"/>
              </a:spcAft>
            </a:pPr>
            <a:r>
              <a:rPr sz="1900">
                <a:solidFill>
                  <a:srgbClr val="141A20"/>
                </a:solidFill>
                <a:latin typeface="Calibri"/>
              </a:rPr>
              <a:t>•  A collections team can call a fixed number of customers each month</a:t>
            </a:r>
          </a:p>
          <a:p>
            <a:pPr>
              <a:lnSpc>
                <a:spcPct val="112000"/>
              </a:lnSpc>
              <a:spcAft>
                <a:spcPts val="1100"/>
              </a:spcAft>
            </a:pPr>
            <a:r>
              <a:rPr sz="1900">
                <a:solidFill>
                  <a:srgbClr val="141A20"/>
                </a:solidFill>
                <a:latin typeface="Calibri"/>
              </a:rPr>
              <a:t>•  Calling the wrong ones wastes the budget; missing the right ones costs the balance</a:t>
            </a:r>
          </a:p>
          <a:p>
            <a:pPr>
              <a:lnSpc>
                <a:spcPct val="112000"/>
              </a:lnSpc>
              <a:spcAft>
                <a:spcPts val="1100"/>
              </a:spcAft>
            </a:pPr>
            <a:r>
              <a:rPr sz="1900">
                <a:solidFill>
                  <a:srgbClr val="141A20"/>
                </a:solidFill>
                <a:latin typeface="Calibri"/>
              </a:rPr>
              <a:t>•  So the model's job is to ORDER customers by risk, not to pass judgement</a:t>
            </a:r>
          </a:p>
          <a:p>
            <a:pPr>
              <a:lnSpc>
                <a:spcPct val="112000"/>
              </a:lnSpc>
              <a:spcAft>
                <a:spcPts val="1100"/>
              </a:spcAft>
            </a:pPr>
            <a:r>
              <a:rPr sz="1900">
                <a:solidFill>
                  <a:srgbClr val="141A20"/>
                </a:solidFill>
                <a:latin typeface="Calibri"/>
              </a:rPr>
              <a:t>•  Every design choice in this project follows from that one sentence</a:t>
            </a:r>
          </a:p>
        </p:txBody>
      </p:sp>
      <p:sp>
        <p:nvSpPr>
          <p:cNvPr id="6" name="TextBox 5"/>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What we looked at</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30,000 customers · six months of history · one in five missed the next payment</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Public UCI dataset from a Taiwanese bank, April to September 2005</a:t>
            </a:r>
          </a:p>
          <a:p>
            <a:pPr>
              <a:lnSpc>
                <a:spcPct val="112000"/>
              </a:lnSpc>
              <a:spcAft>
                <a:spcPts val="1100"/>
              </a:spcAft>
            </a:pPr>
            <a:r>
              <a:rPr sz="1250">
                <a:solidFill>
                  <a:srgbClr val="141A20"/>
                </a:solidFill>
                <a:latin typeface="Calibri"/>
              </a:rPr>
              <a:t>•  Credit limit, demographics, six monthly bills, six monthly payments, six lateness codes</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6,636 of 30,000 customers defaulted — 22.1%</a:t>
            </a:r>
          </a:p>
          <a:p>
            <a:pPr>
              <a:lnSpc>
                <a:spcPct val="112000"/>
              </a:lnSpc>
              <a:spcAft>
                <a:spcPts val="1100"/>
              </a:spcAft>
            </a:pPr>
            <a:r>
              <a:rPr sz="1250">
                <a:solidFill>
                  <a:srgbClr val="141A20"/>
                </a:solidFill>
                <a:latin typeface="Calibri"/>
              </a:rPr>
              <a:t>•  That imbalance sets a trap we will come back to at the end</a:t>
            </a:r>
          </a:p>
        </p:txBody>
      </p:sp>
      <p:pic>
        <p:nvPicPr>
          <p:cNvPr id="7" name="Picture 6" descr="01_class_balance.png"/>
          <p:cNvPicPr>
            <a:picLocks noChangeAspect="1"/>
          </p:cNvPicPr>
          <p:nvPr/>
        </p:nvPicPr>
        <p:blipFill>
          <a:blip r:embed="rId2"/>
          <a:stretch>
            <a:fillRect/>
          </a:stretch>
        </p:blipFill>
        <p:spPr>
          <a:xfrm>
            <a:off x="2634497" y="3063240"/>
            <a:ext cx="6929101" cy="3246120"/>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Is the data trustworthy?</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We checked rather than assumed — and we checked our own cleaning too</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No missing values and no duplicate records anywhere in 30,000 rows</a:t>
            </a:r>
          </a:p>
          <a:p>
            <a:pPr>
              <a:lnSpc>
                <a:spcPct val="112000"/>
              </a:lnSpc>
              <a:spcAft>
                <a:spcPts val="1100"/>
              </a:spcAft>
            </a:pPr>
            <a:r>
              <a:rPr sz="1250">
                <a:solidFill>
                  <a:srgbClr val="141A20"/>
                </a:solidFill>
                <a:latin typeface="Calibri"/>
              </a:rPr>
              <a:t>•  Fixed: headings on the wrong row, a misnamed column, undocumented category codes</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Extreme amounts were kept, not capped, so over-limit customers stay visible</a:t>
            </a:r>
          </a:p>
          <a:p>
            <a:pPr>
              <a:lnSpc>
                <a:spcPct val="112000"/>
              </a:lnSpc>
              <a:spcAft>
                <a:spcPts val="1100"/>
              </a:spcAft>
            </a:pPr>
            <a:r>
              <a:rPr sz="1250">
                <a:solidFill>
                  <a:srgbClr val="141A20"/>
                </a:solidFill>
                <a:latin typeface="Calibri"/>
              </a:rPr>
              <a:t>•  Re-ran every conclusion on the untouched raw file — the answers did not move</a:t>
            </a:r>
          </a:p>
        </p:txBody>
      </p:sp>
      <p:pic>
        <p:nvPicPr>
          <p:cNvPr id="7" name="Picture 6" descr="12_cleaning_validation.png"/>
          <p:cNvPicPr>
            <a:picLocks noChangeAspect="1"/>
          </p:cNvPicPr>
          <p:nvPr/>
        </p:nvPicPr>
        <p:blipFill>
          <a:blip r:embed="rId2"/>
          <a:stretch>
            <a:fillRect/>
          </a:stretch>
        </p:blipFill>
        <p:spPr>
          <a:xfrm>
            <a:off x="566928" y="3105694"/>
            <a:ext cx="11064240" cy="3161211"/>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The flaw we found before the model did</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The six monthly lateness codes are not the same ruler</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"One month late" appears 3,688 times in September and ZERO times in April and May</a:t>
            </a:r>
          </a:p>
          <a:p>
            <a:pPr>
              <a:lnSpc>
                <a:spcPct val="112000"/>
              </a:lnSpc>
              <a:spcAft>
                <a:spcPts val="1100"/>
              </a:spcAft>
            </a:pPr>
            <a:r>
              <a:rPr sz="1250">
                <a:solidFill>
                  <a:srgbClr val="141A20"/>
                </a:solidFill>
                <a:latin typeface="Calibri"/>
              </a:rPr>
              <a:t>•  A naive trend feature says customers who "improved" default at 26% vs 16% for stable</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They never improved — the code changed meaning underneath them</a:t>
            </a:r>
          </a:p>
          <a:p>
            <a:pPr>
              <a:lnSpc>
                <a:spcPct val="112000"/>
              </a:lnSpc>
              <a:spcAft>
                <a:spcPts val="1100"/>
              </a:spcAft>
            </a:pPr>
            <a:r>
              <a:rPr sz="1250">
                <a:solidFill>
                  <a:srgbClr val="141A20"/>
                </a:solidFill>
                <a:latin typeface="Calibri"/>
              </a:rPr>
              <a:t>•  So we built no trend feature, and used only measures immune to the problem</a:t>
            </a:r>
          </a:p>
        </p:txBody>
      </p:sp>
      <p:pic>
        <p:nvPicPr>
          <p:cNvPr id="7" name="Picture 6" descr="05_pay_scale_anomaly.png"/>
          <p:cNvPicPr>
            <a:picLocks noChangeAspect="1"/>
          </p:cNvPicPr>
          <p:nvPr/>
        </p:nvPicPr>
        <p:blipFill>
          <a:blip r:embed="rId2"/>
          <a:stretch>
            <a:fillRect/>
          </a:stretch>
        </p:blipFill>
        <p:spPr>
          <a:xfrm>
            <a:off x="1235315" y="3063240"/>
            <a:ext cx="9727466" cy="3246119"/>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What actually predicts a missed payment</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Recent payment behaviour, and almost nothing else</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Current on the last payment: 13.8% default.  One month late: 34%.  Two months: 69%</a:t>
            </a:r>
          </a:p>
          <a:p>
            <a:pPr>
              <a:lnSpc>
                <a:spcPct val="112000"/>
              </a:lnSpc>
              <a:spcAft>
                <a:spcPts val="1100"/>
              </a:spcAft>
            </a:pPr>
            <a:r>
              <a:rPr sz="1250">
                <a:solidFill>
                  <a:srgbClr val="141A20"/>
                </a:solidFill>
                <a:latin typeface="Calibri"/>
              </a:rPr>
              <a:t>•  Count of late months runs 11.7% (never) to 70.3% (all six) with no reversals</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Paid nothing against the bill: 51.8%.  Cleared it: 13.9%</a:t>
            </a:r>
          </a:p>
          <a:p>
            <a:pPr>
              <a:lnSpc>
                <a:spcPct val="112000"/>
              </a:lnSpc>
              <a:spcAft>
                <a:spcPts val="1100"/>
              </a:spcAft>
            </a:pPr>
            <a:r>
              <a:rPr sz="1250">
                <a:solidFill>
                  <a:srgbClr val="141A20"/>
                </a:solidFill>
                <a:latin typeface="Calibri"/>
              </a:rPr>
              <a:t>•  Late recently 41.6% vs late long ago 26.0% — recency carries ~1.6x the risk</a:t>
            </a:r>
          </a:p>
        </p:txBody>
      </p:sp>
      <p:pic>
        <p:nvPicPr>
          <p:cNvPr id="7" name="Picture 6" descr="04_repayment_history.png"/>
          <p:cNvPicPr>
            <a:picLocks noChangeAspect="1"/>
          </p:cNvPicPr>
          <p:nvPr/>
        </p:nvPicPr>
        <p:blipFill>
          <a:blip r:embed="rId2"/>
          <a:stretch>
            <a:fillRect/>
          </a:stretch>
        </p:blipFill>
        <p:spPr>
          <a:xfrm>
            <a:off x="1643803" y="3063240"/>
            <a:ext cx="8910490" cy="3246119"/>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What does NOT predict it</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Statistically significant, practically useless — and a fairness risk</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Age, sex, education, marital status: all significant at p &lt; .001, all effect sizes under 0.08</a:t>
            </a:r>
          </a:p>
          <a:p>
            <a:pPr>
              <a:lnSpc>
                <a:spcPct val="112000"/>
              </a:lnSpc>
              <a:spcAft>
                <a:spcPts val="1100"/>
              </a:spcAft>
            </a:pPr>
            <a:r>
              <a:rPr sz="1250">
                <a:solidFill>
                  <a:srgbClr val="141A20"/>
                </a:solidFill>
                <a:latin typeface="Calibri"/>
              </a:rPr>
              <a:t>•  Age on its own scores 0.504 — indistinguishable from a coin flip</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Because risk is U-shaped: 26.7% in the early 20s, 19.4% in the low 30s, 26.8% past 60</a:t>
            </a:r>
          </a:p>
          <a:p>
            <a:pPr>
              <a:lnSpc>
                <a:spcPct val="112000"/>
              </a:lnSpc>
              <a:spcAft>
                <a:spcPts val="1100"/>
              </a:spcAft>
            </a:pPr>
            <a:r>
              <a:rPr sz="1250">
                <a:solidFill>
                  <a:srgbClr val="141A20"/>
                </a:solidFill>
                <a:latin typeface="Calibri"/>
              </a:rPr>
              <a:t>•  We excluded demographics from the final model entirely</a:t>
            </a:r>
          </a:p>
        </p:txBody>
      </p:sp>
      <p:pic>
        <p:nvPicPr>
          <p:cNvPr id="7" name="Picture 6" descr="03_demographics.png"/>
          <p:cNvPicPr>
            <a:picLocks noChangeAspect="1"/>
          </p:cNvPicPr>
          <p:nvPr/>
        </p:nvPicPr>
        <p:blipFill>
          <a:blip r:embed="rId2"/>
          <a:stretch>
            <a:fillRect/>
          </a:stretch>
        </p:blipFill>
        <p:spPr>
          <a:xfrm>
            <a:off x="986552" y="3063240"/>
            <a:ext cx="10224991" cy="3246120"/>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Ranking every signal honestly</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The dataset does not ship with its own best predictor — we had to build it</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4800600" cy="3108960"/>
          </a:xfrm>
          <a:prstGeom prst="rect">
            <a:avLst/>
          </a:prstGeom>
          <a:noFill/>
        </p:spPr>
        <p:txBody>
          <a:bodyPr wrap="square" lIns="0" rIns="0">
            <a:spAutoFit/>
          </a:bodyPr>
          <a:lstStyle/>
          <a:p>
            <a:pPr>
              <a:lnSpc>
                <a:spcPct val="112000"/>
              </a:lnSpc>
              <a:spcAft>
                <a:spcPts val="1100"/>
              </a:spcAft>
            </a:pPr>
            <a:r>
              <a:rPr sz="1400">
                <a:solidFill>
                  <a:srgbClr val="141A20"/>
                </a:solidFill>
                <a:latin typeface="Calibri"/>
              </a:rPr>
              <a:t>•  Each variable scored alone, on its own, against the outcome</a:t>
            </a:r>
          </a:p>
          <a:p>
            <a:pPr>
              <a:lnSpc>
                <a:spcPct val="112000"/>
              </a:lnSpc>
              <a:spcAft>
                <a:spcPts val="1100"/>
              </a:spcAft>
            </a:pPr>
            <a:r>
              <a:rPr sz="1400">
                <a:solidFill>
                  <a:srgbClr val="141A20"/>
                </a:solidFill>
                <a:latin typeface="Calibri"/>
              </a:rPr>
              <a:t>•  Best single signal is the COUNT of late months, at 0.726 — and it is engineered, not given</a:t>
            </a:r>
          </a:p>
          <a:p>
            <a:pPr>
              <a:lnSpc>
                <a:spcPct val="112000"/>
              </a:lnSpc>
              <a:spcAft>
                <a:spcPts val="1100"/>
              </a:spcAft>
            </a:pPr>
            <a:r>
              <a:rPr sz="1400">
                <a:solidFill>
                  <a:srgbClr val="141A20"/>
                </a:solidFill>
                <a:latin typeface="Calibri"/>
              </a:rPr>
              <a:t>•  The repayment block fills the top of the list; demographics fill the bottom</a:t>
            </a:r>
          </a:p>
          <a:p>
            <a:pPr>
              <a:lnSpc>
                <a:spcPct val="112000"/>
              </a:lnSpc>
              <a:spcAft>
                <a:spcPts val="1100"/>
              </a:spcAft>
            </a:pPr>
            <a:r>
              <a:rPr sz="1400">
                <a:solidFill>
                  <a:srgbClr val="141A20"/>
                </a:solidFill>
                <a:latin typeface="Calibri"/>
              </a:rPr>
              <a:t>•  The six bill columns repeat each other (correlations 0.80–0.95), so we keep one</a:t>
            </a:r>
          </a:p>
        </p:txBody>
      </p:sp>
      <p:pic>
        <p:nvPicPr>
          <p:cNvPr id="6" name="Picture 5" descr="10_predictive_power.png"/>
          <p:cNvPicPr>
            <a:picLocks noChangeAspect="1"/>
          </p:cNvPicPr>
          <p:nvPr/>
        </p:nvPicPr>
        <p:blipFill>
          <a:blip r:embed="rId2"/>
          <a:stretch>
            <a:fillRect/>
          </a:stretch>
        </p:blipFill>
        <p:spPr>
          <a:xfrm>
            <a:off x="5715000" y="1899770"/>
            <a:ext cx="5943600" cy="4064299"/>
          </a:xfrm>
          <a:prstGeom prst="rect">
            <a:avLst/>
          </a:prstGeom>
        </p:spPr>
      </p:pic>
      <p:sp>
        <p:nvSpPr>
          <p:cNvPr id="7" name="TextBox 6"/>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How we chose the model</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Nine combinations, judged on ranking quality — never on accuracy</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Three model families × three input sets, each validated on data it had never seen</a:t>
            </a:r>
          </a:p>
          <a:p>
            <a:pPr>
              <a:lnSpc>
                <a:spcPct val="112000"/>
              </a:lnSpc>
              <a:spcAft>
                <a:spcPts val="1100"/>
              </a:spcAft>
            </a:pPr>
            <a:r>
              <a:rPr sz="1250">
                <a:solidFill>
                  <a:srgbClr val="141A20"/>
                </a:solidFill>
                <a:latin typeface="Calibri"/>
              </a:rPr>
              <a:t>•  A transparent statistical model, two tree-based methods, plus a neural network</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Scored on how well each ORDERS customers by risk, not on accuracy</a:t>
            </a:r>
          </a:p>
          <a:p>
            <a:pPr>
              <a:lnSpc>
                <a:spcPct val="112000"/>
              </a:lnSpc>
              <a:spcAft>
                <a:spcPts val="1100"/>
              </a:spcAft>
            </a:pPr>
            <a:r>
              <a:rPr sz="1250">
                <a:solidFill>
                  <a:srgbClr val="141A20"/>
                </a:solidFill>
                <a:latin typeface="Calibri"/>
              </a:rPr>
              <a:t>•  Tree-based methods won; the top few are close enough to be a practical tie</a:t>
            </a:r>
          </a:p>
        </p:txBody>
      </p:sp>
      <p:pic>
        <p:nvPicPr>
          <p:cNvPr id="7" name="Picture 6" descr="model_03_leaderboard.png"/>
          <p:cNvPicPr>
            <a:picLocks noChangeAspect="1"/>
          </p:cNvPicPr>
          <p:nvPr/>
        </p:nvPicPr>
        <p:blipFill>
          <a:blip r:embed="rId2"/>
          <a:stretch>
            <a:fillRect/>
          </a:stretch>
        </p:blipFill>
        <p:spPr>
          <a:xfrm>
            <a:off x="2822055" y="3063240"/>
            <a:ext cx="6553986" cy="3246120"/>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How well it works</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On 6,000 customers the model had never seen</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4800600" cy="3108960"/>
          </a:xfrm>
          <a:prstGeom prst="rect">
            <a:avLst/>
          </a:prstGeom>
          <a:noFill/>
        </p:spPr>
        <p:txBody>
          <a:bodyPr wrap="square" lIns="0" rIns="0">
            <a:spAutoFit/>
          </a:bodyPr>
          <a:lstStyle/>
          <a:p>
            <a:pPr>
              <a:lnSpc>
                <a:spcPct val="112000"/>
              </a:lnSpc>
              <a:spcAft>
                <a:spcPts val="1100"/>
              </a:spcAft>
            </a:pPr>
            <a:r>
              <a:rPr sz="1400">
                <a:solidFill>
                  <a:srgbClr val="141A20"/>
                </a:solidFill>
                <a:latin typeface="Calibri"/>
              </a:rPr>
              <a:t>•  Found 738 of 1,327 real defaulters — 55.6%</a:t>
            </a:r>
          </a:p>
          <a:p>
            <a:pPr>
              <a:lnSpc>
                <a:spcPct val="112000"/>
              </a:lnSpc>
              <a:spcAft>
                <a:spcPts val="1100"/>
              </a:spcAft>
            </a:pPr>
            <a:r>
              <a:rPr sz="1400">
                <a:solidFill>
                  <a:srgbClr val="141A20"/>
                </a:solidFill>
                <a:latin typeface="Calibri"/>
              </a:rPr>
              <a:t>•  Flagged 1,411 customers; 738 of them genuinely defaulted — 52.3%</a:t>
            </a:r>
          </a:p>
          <a:p>
            <a:pPr>
              <a:lnSpc>
                <a:spcPct val="112000"/>
              </a:lnSpc>
              <a:spcAft>
                <a:spcPts val="1100"/>
              </a:spcAft>
            </a:pPr>
            <a:r>
              <a:rPr sz="1400">
                <a:solidFill>
                  <a:srgbClr val="141A20"/>
                </a:solidFill>
                <a:latin typeface="Calibri"/>
              </a:rPr>
              <a:t>•  Flagging 1,411 AT RANDOM would have caught about 312</a:t>
            </a:r>
          </a:p>
          <a:p>
            <a:pPr>
              <a:lnSpc>
                <a:spcPct val="112000"/>
              </a:lnSpc>
              <a:spcAft>
                <a:spcPts val="1100"/>
              </a:spcAft>
            </a:pPr>
            <a:r>
              <a:rPr sz="1400">
                <a:solidFill>
                  <a:srgbClr val="141A20"/>
                </a:solidFill>
                <a:latin typeface="Calibri"/>
              </a:rPr>
              <a:t>•  So the same amount of effort catches 2.4x as many real defaulters</a:t>
            </a:r>
          </a:p>
        </p:txBody>
      </p:sp>
      <p:pic>
        <p:nvPicPr>
          <p:cNvPr id="6" name="Picture 5" descr="model_02_confusion_matrix.png"/>
          <p:cNvPicPr>
            <a:picLocks noChangeAspect="1"/>
          </p:cNvPicPr>
          <p:nvPr/>
        </p:nvPicPr>
        <p:blipFill>
          <a:blip r:embed="rId2"/>
          <a:stretch>
            <a:fillRect/>
          </a:stretch>
        </p:blipFill>
        <p:spPr>
          <a:xfrm>
            <a:off x="6119206" y="1691640"/>
            <a:ext cx="5135187" cy="4480560"/>
          </a:xfrm>
          <a:prstGeom prst="rect">
            <a:avLst/>
          </a:prstGeom>
        </p:spPr>
      </p:pic>
      <p:sp>
        <p:nvSpPr>
          <p:cNvPr id="7" name="TextBox 6"/>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The trap, and what the model cannot do</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Why we never once reported accuracy</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512064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Our accuracy is 79.0%. Always answering "no default" scores 77.9%</a:t>
            </a:r>
          </a:p>
          <a:p>
            <a:pPr>
              <a:lnSpc>
                <a:spcPct val="112000"/>
              </a:lnSpc>
              <a:spcAft>
                <a:spcPts val="1100"/>
              </a:spcAft>
            </a:pPr>
            <a:r>
              <a:rPr sz="1250">
                <a:solidFill>
                  <a:srgbClr val="141A20"/>
                </a:solidFill>
                <a:latin typeface="Calibri"/>
              </a:rPr>
              <a:t>•  By the measure most people reach for first, the model is barely worth running</a:t>
            </a:r>
          </a:p>
        </p:txBody>
      </p:sp>
      <p:sp>
        <p:nvSpPr>
          <p:cNvPr id="6" name="TextBox 5"/>
          <p:cNvSpPr txBox="1"/>
          <p:nvPr/>
        </p:nvSpPr>
        <p:spPr>
          <a:xfrm>
            <a:off x="5989320" y="1783080"/>
            <a:ext cx="5669280" cy="3108960"/>
          </a:xfrm>
          <a:prstGeom prst="rect">
            <a:avLst/>
          </a:prstGeom>
          <a:noFill/>
        </p:spPr>
        <p:txBody>
          <a:bodyPr wrap="square" lIns="0" rIns="0">
            <a:spAutoFit/>
          </a:bodyPr>
          <a:lstStyle/>
          <a:p>
            <a:pPr>
              <a:lnSpc>
                <a:spcPct val="112000"/>
              </a:lnSpc>
              <a:spcAft>
                <a:spcPts val="1100"/>
              </a:spcAft>
            </a:pPr>
            <a:r>
              <a:rPr sz="1250">
                <a:solidFill>
                  <a:srgbClr val="141A20"/>
                </a:solidFill>
                <a:latin typeface="Calibri"/>
              </a:rPr>
              <a:t>•  By the measure that matches the decision, it is clearly worth running</a:t>
            </a:r>
          </a:p>
          <a:p>
            <a:pPr>
              <a:lnSpc>
                <a:spcPct val="112000"/>
              </a:lnSpc>
              <a:spcAft>
                <a:spcPts val="1100"/>
              </a:spcAft>
            </a:pPr>
            <a:r>
              <a:rPr sz="1250">
                <a:solidFill>
                  <a:srgbClr val="141A20"/>
                </a:solidFill>
                <a:latin typeface="Calibri"/>
              </a:rPr>
              <a:t>•  It cannot say a given customer WILL default — 70% flagged still has a 30% chance of paying</a:t>
            </a:r>
          </a:p>
        </p:txBody>
      </p:sp>
      <p:pic>
        <p:nvPicPr>
          <p:cNvPr id="7" name="Picture 6" descr="model_01_roc_pr_curves.png"/>
          <p:cNvPicPr>
            <a:picLocks noChangeAspect="1"/>
          </p:cNvPicPr>
          <p:nvPr/>
        </p:nvPicPr>
        <p:blipFill>
          <a:blip r:embed="rId2"/>
          <a:stretch>
            <a:fillRect/>
          </a:stretch>
        </p:blipFill>
        <p:spPr>
          <a:xfrm>
            <a:off x="1850526" y="3063240"/>
            <a:ext cx="8497043" cy="3246120"/>
          </a:xfrm>
          <a:prstGeom prst="rect">
            <a:avLst/>
          </a:prstGeom>
        </p:spPr>
      </p:pic>
      <p:sp>
        <p:nvSpPr>
          <p:cNvPr id="8" name="TextBox 7"/>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What we recommend</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Four things a lender should do with this</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4800600" cy="3108960"/>
          </a:xfrm>
          <a:prstGeom prst="rect">
            <a:avLst/>
          </a:prstGeom>
          <a:noFill/>
        </p:spPr>
        <p:txBody>
          <a:bodyPr wrap="square" lIns="0" rIns="0">
            <a:spAutoFit/>
          </a:bodyPr>
          <a:lstStyle/>
          <a:p>
            <a:pPr>
              <a:lnSpc>
                <a:spcPct val="112000"/>
              </a:lnSpc>
              <a:spcAft>
                <a:spcPts val="1100"/>
              </a:spcAft>
            </a:pPr>
            <a:r>
              <a:rPr sz="1400">
                <a:solidFill>
                  <a:srgbClr val="141A20"/>
                </a:solidFill>
                <a:latin typeface="Calibri"/>
              </a:rPr>
              <a:t>•  Deploy it as a ranked monthly outreach list — never as an automated decision</a:t>
            </a:r>
          </a:p>
          <a:p>
            <a:pPr>
              <a:lnSpc>
                <a:spcPct val="112000"/>
              </a:lnSpc>
              <a:spcAft>
                <a:spcPts val="1100"/>
              </a:spcAft>
            </a:pPr>
            <a:r>
              <a:rPr sz="1400">
                <a:solidFill>
                  <a:srgbClr val="141A20"/>
                </a:solidFill>
                <a:latin typeface="Calibri"/>
              </a:rPr>
              <a:t>•  Re-set the cut-off from the bank's own costs; ours is tuned for statistical balance</a:t>
            </a:r>
          </a:p>
          <a:p>
            <a:pPr>
              <a:lnSpc>
                <a:spcPct val="112000"/>
              </a:lnSpc>
              <a:spcAft>
                <a:spcPts val="1100"/>
              </a:spcAft>
            </a:pPr>
            <a:r>
              <a:rPr sz="1400">
                <a:solidFill>
                  <a:srgbClr val="141A20"/>
                </a:solidFill>
                <a:latin typeface="Calibri"/>
              </a:rPr>
              <a:t>•  Fix the lateness coding — it would make five more months of history usable</a:t>
            </a:r>
          </a:p>
          <a:p>
            <a:pPr>
              <a:lnSpc>
                <a:spcPct val="112000"/>
              </a:lnSpc>
              <a:spcAft>
                <a:spcPts val="1100"/>
              </a:spcAft>
            </a:pPr>
            <a:r>
              <a:rPr sz="1400">
                <a:solidFill>
                  <a:srgbClr val="141A20"/>
                </a:solidFill>
                <a:latin typeface="Calibri"/>
              </a:rPr>
              <a:t>•  Treat "two months behind" as a trigger on its own; that group defaults more often than not</a:t>
            </a:r>
          </a:p>
        </p:txBody>
      </p:sp>
      <p:pic>
        <p:nvPicPr>
          <p:cNvPr id="6" name="Picture 5" descr="model_04_feature_importance.png"/>
          <p:cNvPicPr>
            <a:picLocks noChangeAspect="1"/>
          </p:cNvPicPr>
          <p:nvPr/>
        </p:nvPicPr>
        <p:blipFill>
          <a:blip r:embed="rId2"/>
          <a:stretch>
            <a:fillRect/>
          </a:stretch>
        </p:blipFill>
        <p:spPr>
          <a:xfrm>
            <a:off x="5715000" y="2162872"/>
            <a:ext cx="5943600" cy="3538095"/>
          </a:xfrm>
          <a:prstGeom prst="rect">
            <a:avLst/>
          </a:prstGeom>
        </p:spPr>
      </p:pic>
      <p:sp>
        <p:nvSpPr>
          <p:cNvPr id="7" name="TextBox 6"/>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lIns="0" rIns="0" tIns="0" bIns="0">
            <a:spAutoFit/>
          </a:bodyPr>
          <a:lstStyle/>
          <a:p>
            <a:pPr algn="l">
              <a:spcAft>
                <a:spcPts val="0"/>
              </a:spcAft>
            </a:pPr>
            <a:r>
              <a:rPr sz="2900" b="1">
                <a:solidFill>
                  <a:srgbClr val="141A20"/>
                </a:solidFill>
                <a:latin typeface="Calibri"/>
              </a:rPr>
              <a:t>Who did what</a:t>
            </a:r>
          </a:p>
        </p:txBody>
      </p:sp>
      <p:sp>
        <p:nvSpPr>
          <p:cNvPr id="3" name="TextBox 2"/>
          <p:cNvSpPr txBox="1"/>
          <p:nvPr/>
        </p:nvSpPr>
        <p:spPr>
          <a:xfrm>
            <a:off x="566928" y="1024128"/>
            <a:ext cx="11064240" cy="457200"/>
          </a:xfrm>
          <a:prstGeom prst="rect">
            <a:avLst/>
          </a:prstGeom>
          <a:noFill/>
        </p:spPr>
        <p:txBody>
          <a:bodyPr wrap="square" lIns="0" rIns="0" tIns="0" bIns="0">
            <a:spAutoFit/>
          </a:bodyPr>
          <a:lstStyle/>
          <a:p>
            <a:pPr algn="l">
              <a:spcAft>
                <a:spcPts val="0"/>
              </a:spcAft>
            </a:pPr>
            <a:r>
              <a:rPr sz="1500" b="0">
                <a:solidFill>
                  <a:srgbClr val="1F5FAE"/>
                </a:solidFill>
                <a:latin typeface="Calibri"/>
              </a:rPr>
              <a:t>Team 10 · contributions to the final deliverables</a:t>
            </a:r>
          </a:p>
        </p:txBody>
      </p:sp>
      <p:sp>
        <p:nvSpPr>
          <p:cNvPr id="4" name="Rectangle 3"/>
          <p:cNvSpPr/>
          <p:nvPr/>
        </p:nvSpPr>
        <p:spPr>
          <a:xfrm>
            <a:off x="566928" y="1463040"/>
            <a:ext cx="11064240" cy="11430"/>
          </a:xfrm>
          <a:prstGeom prst="rect">
            <a:avLst/>
          </a:prstGeom>
          <a:solidFill>
            <a:srgbClr val="D6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828800"/>
          <a:ext cx="11064240" cy="2743200"/>
        </p:xfrm>
        <a:graphic>
          <a:graphicData uri="http://schemas.openxmlformats.org/drawingml/2006/table">
            <a:tbl>
              <a:tblPr firstRow="1" bandRow="1">
                <a:tableStyleId>{5C22544A-7EE6-4342-B048-85BDC9FD1C3A}</a:tableStyleId>
              </a:tblPr>
              <a:tblGrid>
                <a:gridCol w="3200400"/>
                <a:gridCol w="7863840"/>
              </a:tblGrid>
              <a:tr h="548640">
                <a:tc>
                  <a:txBody>
                    <a:bodyPr/>
                    <a:lstStyle/>
                    <a:p>
                      <a:r>
                        <a:rPr sz="1500" b="1"/>
                        <a:t>Team member</a:t>
                      </a:r>
                    </a:p>
                  </a:txBody>
                  <a:tcPr/>
                </a:tc>
                <a:tc>
                  <a:txBody>
                    <a:bodyPr/>
                    <a:lstStyle/>
                    <a:p>
                      <a:r>
                        <a:rPr sz="1500" b="1"/>
                        <a:t>Contribution</a:t>
                      </a:r>
                    </a:p>
                  </a:txBody>
                  <a:tcPr/>
                </a:tc>
              </a:tr>
              <a:tr h="548640">
                <a:tc>
                  <a:txBody>
                    <a:bodyPr/>
                    <a:lstStyle/>
                    <a:p>
                      <a:r>
                        <a:rPr sz="1400"/>
                        <a:t>Siddhant Bhura</a:t>
                      </a:r>
                    </a:p>
                  </a:txBody>
                  <a:tcPr/>
                </a:tc>
                <a:tc>
                  <a:txBody>
                    <a:bodyPr/>
                    <a:lstStyle/>
                    <a:p>
                      <a:r>
                        <a:rPr sz="1400"/>
                        <a:t>Data cleaning and preparation · neural network analysis · technical report</a:t>
                      </a:r>
                    </a:p>
                  </a:txBody>
                  <a:tcPr/>
                </a:tc>
              </a:tr>
              <a:tr h="548640">
                <a:tc>
                  <a:txBody>
                    <a:bodyPr/>
                    <a:lstStyle/>
                    <a:p>
                      <a:r>
                        <a:rPr sz="1400"/>
                        <a:t>Eshwar Reddy M</a:t>
                      </a:r>
                    </a:p>
                  </a:txBody>
                  <a:tcPr/>
                </a:tc>
                <a:tc>
                  <a:txBody>
                    <a:bodyPr/>
                    <a:lstStyle/>
                    <a:p>
                      <a:r>
                        <a:rPr sz="1400"/>
                        <a:t>Exploratory data analysis · regression assumption testing · presentation</a:t>
                      </a:r>
                    </a:p>
                  </a:txBody>
                  <a:tcPr/>
                </a:tc>
              </a:tr>
              <a:tr h="548640">
                <a:tc>
                  <a:txBody>
                    <a:bodyPr/>
                    <a:lstStyle/>
                    <a:p>
                      <a:r>
                        <a:rPr sz="1400"/>
                        <a:t>Umesh Sharma</a:t>
                      </a:r>
                    </a:p>
                  </a:txBody>
                  <a:tcPr/>
                </a:tc>
                <a:tc>
                  <a:txBody>
                    <a:bodyPr/>
                    <a:lstStyle/>
                    <a:p>
                      <a:r>
                        <a:rPr sz="1400"/>
                        <a:t>Model development, comparison and validation · reproducibility pipeline</a:t>
                      </a:r>
                    </a:p>
                  </a:txBody>
                  <a:tcPr/>
                </a:tc>
              </a:tr>
              <a:tr h="548640">
                <a:tc>
                  <a:txBody>
                    <a:bodyPr/>
                    <a:lstStyle/>
                    <a:p>
                      <a:r>
                        <a:rPr sz="1400"/>
                        <a:t>Prasad Pidaparty</a:t>
                      </a:r>
                    </a:p>
                  </a:txBody>
                  <a:tcPr/>
                </a:tc>
                <a:tc>
                  <a:txBody>
                    <a:bodyPr/>
                    <a:lstStyle/>
                    <a:p>
                      <a:r>
                        <a:rPr sz="1400"/>
                        <a:t>Dataset selection and business problem definition (project plan stage)</a:t>
                      </a:r>
                    </a:p>
                  </a:txBody>
                  <a:tcPr/>
                </a:tc>
              </a:tr>
            </a:tbl>
          </a:graphicData>
        </a:graphic>
      </p:graphicFrame>
      <p:sp>
        <p:nvSpPr>
          <p:cNvPr id="6" name="TextBox 5"/>
          <p:cNvSpPr txBox="1"/>
          <p:nvPr/>
        </p:nvSpPr>
        <p:spPr>
          <a:xfrm>
            <a:off x="566928" y="5852160"/>
            <a:ext cx="10058400" cy="365760"/>
          </a:xfrm>
          <a:prstGeom prst="rect">
            <a:avLst/>
          </a:prstGeom>
          <a:noFill/>
        </p:spPr>
        <p:txBody>
          <a:bodyPr wrap="square" lIns="0" rIns="0" tIns="0" bIns="0">
            <a:spAutoFit/>
          </a:bodyPr>
          <a:lstStyle/>
          <a:p>
            <a:pPr algn="l">
              <a:spcAft>
                <a:spcPts val="0"/>
              </a:spcAft>
            </a:pPr>
            <a:r>
              <a:rPr sz="1600" b="1">
                <a:solidFill>
                  <a:srgbClr val="1F5FAE"/>
                </a:solidFill>
                <a:latin typeface="Calibri"/>
              </a:rPr>
              <a:t>Thank you — questions welcome</a:t>
            </a:r>
          </a:p>
        </p:txBody>
      </p:sp>
      <p:sp>
        <p:nvSpPr>
          <p:cNvPr id="7" name="TextBox 6"/>
          <p:cNvSpPr txBox="1"/>
          <p:nvPr/>
        </p:nvSpPr>
        <p:spPr>
          <a:xfrm>
            <a:off x="10607040" y="6355080"/>
            <a:ext cx="1051560" cy="274320"/>
          </a:xfrm>
          <a:prstGeom prst="rect">
            <a:avLst/>
          </a:prstGeom>
          <a:noFill/>
        </p:spPr>
        <p:txBody>
          <a:bodyPr wrap="square" lIns="0" rIns="0" tIns="0" bIns="0">
            <a:spAutoFit/>
          </a:bodyPr>
          <a:lstStyle/>
          <a:p>
            <a:pPr algn="r">
              <a:spcAft>
                <a:spcPts val="0"/>
              </a:spcAft>
            </a:pPr>
            <a:r>
              <a:rPr sz="1100" b="0">
                <a:solidFill>
                  <a:srgbClr val="5C666F"/>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